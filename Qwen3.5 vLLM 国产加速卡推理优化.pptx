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type="screen16x9" cy="6858000" cx="12192000"/>
  <p:notesSz cx="12192000" cy="6858000"/>
  <p:embeddedFontLst>
    <p:embeddedFont>
      <p:font typeface="微软雅黑" pitchFamily="34" charset="-122"/>
      <p:regular r:id="rId18"/>
    </p:embeddedFont>
    <p:embeddedFont>
      <p:font typeface="等线" charset="0"/>
      <p:regular r:id="rId19"/>
    </p:embeddedFont>
  </p:embeddedFontLst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23" autoAdjust="0"/>
    <p:restoredTop sz="94595" autoAdjust="0"/>
  </p:normalViewPr>
  <p:slideViewPr>
    <p:cSldViewPr snapToGrid="0" snapToObjects="1">
      <p:cViewPr varScale="1">
        <p:scale>
          <a:sx n="81" d="100"/>
          <a:sy n="81" d="100"/>
        </p:scale>
        <p:origin x="132" y="52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770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93C6B44-ECA8-401F-9EAD-8B311EA290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1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77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77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77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977E5FF6-6420-41AF-981F-A3F663C1E058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0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977E5FF6-6420-41AF-981F-A3F663C1E058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矩形 11"/>
          <p:cNvSpPr/>
          <p:nvPr/>
        </p:nvSpPr>
        <p:spPr>
          <a:xfrm>
            <a:off x="0" y="2208168"/>
            <a:ext cx="12192000" cy="2861362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577" name="sub-title"/>
          <p:cNvSpPr txBox="1"/>
          <p:nvPr/>
        </p:nvSpPr>
        <p:spPr>
          <a:xfrm>
            <a:off x="2849032" y="3092248"/>
            <a:ext cx="6493935" cy="1403552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en-US" b="1" sz="3600" lang="zh-CN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基于</a:t>
            </a:r>
            <a:r>
              <a:rPr altLang="zh-CN" b="1" sz="36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vLLM</a:t>
            </a:r>
            <a:r>
              <a:rPr altLang="en-US" b="1" sz="3600" lang="zh-CN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与</a:t>
            </a:r>
            <a:r>
              <a:rPr b="1" sz="36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DCU/BW1000</a:t>
            </a:r>
            <a:r>
              <a:rPr altLang="en-US" b="1" sz="3600" lang="zh-CN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的</a:t>
            </a:r>
            <a:br>
              <a:rPr altLang="zh-CN" b="1" sz="36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</a:br>
            <a:r>
              <a:rPr altLang="zh-CN" b="1" sz="36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    Qwen3.5</a:t>
            </a:r>
            <a:r>
              <a:rPr b="1" sz="36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推理优化实践</a:t>
            </a:r>
            <a:endParaRPr b="1" sz="3600" lang="en-US" noProof="1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2" name="图片 9" descr="hitsz-logo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6089" y="573915"/>
            <a:ext cx="7431181" cy="1369484"/>
          </a:xfrm>
          <a:prstGeom prst="rect"/>
        </p:spPr>
      </p:pic>
      <p:sp>
        <p:nvSpPr>
          <p:cNvPr id="1048578" name="文本框 13"/>
          <p:cNvSpPr txBox="1"/>
          <p:nvPr/>
        </p:nvSpPr>
        <p:spPr>
          <a:xfrm>
            <a:off x="2396067" y="5584278"/>
            <a:ext cx="3564466" cy="396240"/>
          </a:xfrm>
          <a:prstGeom prst="rect"/>
          <a:noFill/>
        </p:spPr>
        <p:txBody>
          <a:bodyPr wrap="square">
            <a:spAutoFit/>
          </a:bodyPr>
          <a:p>
            <a:r>
              <a:rPr altLang="en-US" b="1" dirty="0" sz="180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队员：</a:t>
            </a:r>
            <a:r>
              <a:rPr altLang="en-US" b="1" dirty="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郭俭彰、周子轩、刘家良</a:t>
            </a:r>
            <a:r>
              <a:rPr altLang="zh-CN" b="1" dirty="0" sz="1800" lang="en-US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endParaRPr altLang="en-US" dirty="0" lang="zh-CN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79" name="文本框 15"/>
          <p:cNvSpPr txBox="1"/>
          <p:nvPr/>
        </p:nvSpPr>
        <p:spPr>
          <a:xfrm>
            <a:off x="6231469" y="5584278"/>
            <a:ext cx="3191931" cy="396240"/>
          </a:xfrm>
          <a:prstGeom prst="rect"/>
          <a:noFill/>
        </p:spPr>
        <p:txBody>
          <a:bodyPr wrap="square">
            <a:spAutoFit/>
          </a:bodyPr>
          <a:p>
            <a:r>
              <a:rPr altLang="en-US" b="1" dirty="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指导</a:t>
            </a:r>
            <a:r>
              <a:rPr altLang="en-US" b="1" dirty="0" sz="180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老师：仇洁婷、夏文</a:t>
            </a:r>
            <a:endParaRPr altLang="en-US" dirty="0" sz="1800" lang="zh-CN"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q2-num"/>
          <p:cNvSpPr txBox="1"/>
          <p:nvPr/>
        </p:nvSpPr>
        <p:spPr>
          <a:xfrm>
            <a:off x="1417701" y="269000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81" name="矩形 2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582" name="矩形 3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583" name="矩形 4"/>
          <p:cNvSpPr/>
          <p:nvPr/>
        </p:nvSpPr>
        <p:spPr>
          <a:xfrm>
            <a:off x="4986182" y="-21009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28" name="直接连接符 5"/>
          <p:cNvCxnSpPr>
            <a:cxnSpLocks/>
          </p:cNvCxnSpPr>
          <p:nvPr/>
        </p:nvCxnSpPr>
        <p:spPr>
          <a:xfrm>
            <a:off x="10003249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4" name="TextBox 6"/>
          <p:cNvSpPr txBox="1"/>
          <p:nvPr/>
        </p:nvSpPr>
        <p:spPr>
          <a:xfrm>
            <a:off x="5127415" y="260039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85" name="TextBox 7"/>
          <p:cNvSpPr txBox="1"/>
          <p:nvPr/>
        </p:nvSpPr>
        <p:spPr>
          <a:xfrm>
            <a:off x="6792874" y="227942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86" name="TextBox 9"/>
          <p:cNvSpPr txBox="1"/>
          <p:nvPr/>
        </p:nvSpPr>
        <p:spPr>
          <a:xfrm>
            <a:off x="8494134" y="224420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87" name="TextBox 11"/>
          <p:cNvSpPr txBox="1"/>
          <p:nvPr/>
        </p:nvSpPr>
        <p:spPr>
          <a:xfrm>
            <a:off x="10182151" y="21590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3" name="图片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43396"/>
            <a:ext cx="2999492" cy="548688"/>
          </a:xfrm>
          <a:prstGeom prst="rect"/>
        </p:spPr>
      </p:pic>
      <p:cxnSp>
        <p:nvCxnSpPr>
          <p:cNvPr id="3145729" name="直接连接符 11"/>
          <p:cNvCxnSpPr>
            <a:cxnSpLocks/>
          </p:cNvCxnSpPr>
          <p:nvPr/>
        </p:nvCxnSpPr>
        <p:spPr>
          <a:xfrm>
            <a:off x="6650316" y="269000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直接连接符 12"/>
          <p:cNvCxnSpPr>
            <a:cxnSpLocks/>
          </p:cNvCxnSpPr>
          <p:nvPr/>
        </p:nvCxnSpPr>
        <p:spPr>
          <a:xfrm>
            <a:off x="8315775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8" name="文本框 14"/>
          <p:cNvSpPr txBox="1"/>
          <p:nvPr/>
        </p:nvSpPr>
        <p:spPr>
          <a:xfrm>
            <a:off x="558799" y="1210873"/>
            <a:ext cx="1879601" cy="640079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成绩总结</a:t>
            </a:r>
            <a:endParaRPr altLang="zh-CN"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4" name="图片 1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726267" y="4338715"/>
            <a:ext cx="9121207" cy="2303382"/>
          </a:xfrm>
          <a:prstGeom prst="rect"/>
        </p:spPr>
      </p:pic>
      <p:pic>
        <p:nvPicPr>
          <p:cNvPr id="2097155" name="图片 1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726267" y="2059885"/>
            <a:ext cx="9121207" cy="1915501"/>
          </a:xfrm>
          <a:prstGeom prst="rect"/>
        </p:spPr>
      </p:pic>
      <p:sp>
        <p:nvSpPr>
          <p:cNvPr id="1048589" name="矩形: 圆角 20"/>
          <p:cNvSpPr/>
          <p:nvPr/>
        </p:nvSpPr>
        <p:spPr>
          <a:xfrm>
            <a:off x="2762740" y="2692400"/>
            <a:ext cx="3708675" cy="541867"/>
          </a:xfrm>
          <a:prstGeom prst="roundRect"/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590" name="矩形: 圆角 22"/>
          <p:cNvSpPr/>
          <p:nvPr/>
        </p:nvSpPr>
        <p:spPr>
          <a:xfrm>
            <a:off x="2915140" y="5139267"/>
            <a:ext cx="3708675" cy="541867"/>
          </a:xfrm>
          <a:prstGeom prst="roundRect"/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591" name="文本框 24"/>
          <p:cNvSpPr txBox="1"/>
          <p:nvPr/>
        </p:nvSpPr>
        <p:spPr>
          <a:xfrm>
            <a:off x="1125385" y="2774496"/>
            <a:ext cx="1443567" cy="640079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初赛</a:t>
            </a:r>
            <a:endParaRPr altLang="zh-CN"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92" name="文本框 26"/>
          <p:cNvSpPr txBox="1"/>
          <p:nvPr/>
        </p:nvSpPr>
        <p:spPr>
          <a:xfrm>
            <a:off x="1125385" y="5060986"/>
            <a:ext cx="1151253" cy="548639"/>
          </a:xfrm>
          <a:prstGeom prst="rect"/>
          <a:noFill/>
        </p:spPr>
        <p:txBody>
          <a:bodyPr wrap="square">
            <a:spAutoFit/>
          </a:bodyPr>
          <a:p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决赛</a:t>
            </a:r>
            <a:endParaRPr altLang="en-US" dirty="0"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q2-num"/>
          <p:cNvSpPr txBox="1"/>
          <p:nvPr/>
        </p:nvSpPr>
        <p:spPr>
          <a:xfrm>
            <a:off x="1417701" y="269000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94" name="矩形 2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595" name="矩形 3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596" name="矩形 4"/>
          <p:cNvSpPr/>
          <p:nvPr/>
        </p:nvSpPr>
        <p:spPr>
          <a:xfrm>
            <a:off x="4986182" y="-21009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31" name="直接连接符 5"/>
          <p:cNvCxnSpPr>
            <a:cxnSpLocks/>
          </p:cNvCxnSpPr>
          <p:nvPr/>
        </p:nvCxnSpPr>
        <p:spPr>
          <a:xfrm>
            <a:off x="10003249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7" name="TextBox 6"/>
          <p:cNvSpPr txBox="1"/>
          <p:nvPr/>
        </p:nvSpPr>
        <p:spPr>
          <a:xfrm>
            <a:off x="5127415" y="260039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98" name="TextBox 7"/>
          <p:cNvSpPr txBox="1"/>
          <p:nvPr/>
        </p:nvSpPr>
        <p:spPr>
          <a:xfrm>
            <a:off x="6792874" y="227942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599" name="TextBox 9"/>
          <p:cNvSpPr txBox="1"/>
          <p:nvPr/>
        </p:nvSpPr>
        <p:spPr>
          <a:xfrm>
            <a:off x="8494134" y="224420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0" name="TextBox 11"/>
          <p:cNvSpPr txBox="1"/>
          <p:nvPr/>
        </p:nvSpPr>
        <p:spPr>
          <a:xfrm>
            <a:off x="10182151" y="21590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6" name="图片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43396"/>
            <a:ext cx="2999492" cy="548688"/>
          </a:xfrm>
          <a:prstGeom prst="rect"/>
        </p:spPr>
      </p:pic>
      <p:cxnSp>
        <p:nvCxnSpPr>
          <p:cNvPr id="3145732" name="直接连接符 11"/>
          <p:cNvCxnSpPr>
            <a:cxnSpLocks/>
          </p:cNvCxnSpPr>
          <p:nvPr/>
        </p:nvCxnSpPr>
        <p:spPr>
          <a:xfrm>
            <a:off x="6650316" y="269000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直接连接符 12"/>
          <p:cNvCxnSpPr>
            <a:cxnSpLocks/>
          </p:cNvCxnSpPr>
          <p:nvPr/>
        </p:nvCxnSpPr>
        <p:spPr>
          <a:xfrm>
            <a:off x="8315775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7" name="图片 1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92874" y="2429522"/>
            <a:ext cx="5068370" cy="4029637"/>
          </a:xfrm>
          <a:prstGeom prst="rect"/>
        </p:spPr>
      </p:pic>
      <p:sp>
        <p:nvSpPr>
          <p:cNvPr id="1048601" name="文本框 20"/>
          <p:cNvSpPr txBox="1"/>
          <p:nvPr/>
        </p:nvSpPr>
        <p:spPr>
          <a:xfrm>
            <a:off x="327583" y="1061000"/>
            <a:ext cx="6324600" cy="640079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仓库管理</a:t>
            </a:r>
            <a:endParaRPr altLang="zh-CN"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2" name="文本框 22"/>
          <p:cNvSpPr txBox="1"/>
          <p:nvPr/>
        </p:nvSpPr>
        <p:spPr>
          <a:xfrm>
            <a:off x="867834" y="1798472"/>
            <a:ext cx="6324600" cy="563880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55000"/>
              </a:lnSpc>
            </a:pPr>
            <a:r>
              <a:rPr altLang="en-US" b="1" sz="1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合理的分工和分支管理</a:t>
            </a:r>
            <a:endParaRPr altLang="zh-CN" sz="1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3" name="文本框 24"/>
          <p:cNvSpPr txBox="1"/>
          <p:nvPr/>
        </p:nvSpPr>
        <p:spPr>
          <a:xfrm>
            <a:off x="6136075" y="1779648"/>
            <a:ext cx="2657597" cy="563880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55000"/>
              </a:lnSpc>
            </a:pPr>
            <a:r>
              <a:rPr altLang="en-US" b="1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详细的</a:t>
            </a:r>
            <a:r>
              <a:rPr altLang="zh-CN" b="1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commit</a:t>
            </a:r>
            <a:r>
              <a:rPr altLang="en-US" b="1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历史</a:t>
            </a:r>
            <a:endParaRPr altLang="zh-CN" sz="1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8" name="图片 26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09819" y="2490468"/>
            <a:ext cx="6340497" cy="3962811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left-sub"/>
          <p:cNvSpPr txBox="1"/>
          <p:nvPr/>
        </p:nvSpPr>
        <p:spPr>
          <a:xfrm>
            <a:off x="338415" y="1386866"/>
            <a:ext cx="5461000" cy="2794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Qwen3.5-27B 语言模型结构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7" name="struct-list"/>
          <p:cNvSpPr txBox="1"/>
          <p:nvPr/>
        </p:nvSpPr>
        <p:spPr>
          <a:xfrm>
            <a:off x="488398" y="2094647"/>
            <a:ext cx="6356350" cy="1586127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r>
              <a:rPr b="1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48 层 GDN 线性注意力</a:t>
            </a: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　16 个 Q/K heads、48 个 V heads，head_dim = 128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spcBef>
                <a:spcPts val="800"/>
              </a:spcBef>
            </a:pPr>
            <a:r>
              <a:rPr b="1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16 层 full attention</a:t>
            </a: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　24 个 Q heads、4 个 KV heads（GQA ratio 6），head_dim = 256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8" name="right-sub"/>
          <p:cNvSpPr txBox="1"/>
          <p:nvPr/>
        </p:nvSpPr>
        <p:spPr>
          <a:xfrm>
            <a:off x="7097672" y="1166954"/>
            <a:ext cx="4521200" cy="658219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zh-CN" b="1" sz="32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Hotspot</a:t>
            </a:r>
            <a:endParaRPr sz="3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9" name="h1-num"/>
          <p:cNvSpPr txBox="1"/>
          <p:nvPr/>
        </p:nvSpPr>
        <p:spPr>
          <a:xfrm>
            <a:off x="7301948" y="2181661"/>
            <a:ext cx="457200" cy="310267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6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01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0" name="h1"/>
          <p:cNvSpPr txBox="1"/>
          <p:nvPr/>
        </p:nvSpPr>
        <p:spPr>
          <a:xfrm>
            <a:off x="7741248" y="2093758"/>
            <a:ext cx="3962400" cy="961829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GDN chunk prefill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每次 forward 重复 48 次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，</a:t>
            </a:r>
            <a:r>
              <a:rPr altLang="zh-CN" dirty="0" lang="zh-CN">
                <a:latin typeface="Microsoft YaHei" pitchFamily="34" charset="-122"/>
                <a:ea typeface="Microsoft YaHei" pitchFamily="34" charset="-122"/>
              </a:rPr>
              <a:t>调用频次极高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1" name="h2-num"/>
          <p:cNvSpPr txBox="1"/>
          <p:nvPr/>
        </p:nvSpPr>
        <p:spPr>
          <a:xfrm>
            <a:off x="7301948" y="3192857"/>
            <a:ext cx="457200" cy="310267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2" name="h2"/>
          <p:cNvSpPr txBox="1"/>
          <p:nvPr/>
        </p:nvSpPr>
        <p:spPr>
          <a:xfrm>
            <a:off x="7691596" y="3162767"/>
            <a:ext cx="4255533" cy="1259697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GQA full attention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运行在非典型 BLOCK_SIZE = 784 的 paged KV 上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，存在</a:t>
            </a:r>
            <a:r>
              <a:rPr altLang="zh-CN" dirty="0" sz="1600" lang="zh-CN">
                <a:latin typeface="微软雅黑" pitchFamily="34" charset="-122"/>
                <a:ea typeface="微软雅黑" pitchFamily="34" charset="-122"/>
              </a:rPr>
              <a:t>非连续寻址、重复 gather</a:t>
            </a:r>
            <a:endParaRPr altLang="zh-CN" dirty="0" sz="1600" lang="zh-CN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3" name="h3-num"/>
          <p:cNvSpPr txBox="1"/>
          <p:nvPr/>
        </p:nvSpPr>
        <p:spPr>
          <a:xfrm>
            <a:off x="7301948" y="4541453"/>
            <a:ext cx="457200" cy="310267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03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4" name="h3"/>
          <p:cNvSpPr txBox="1"/>
          <p:nvPr/>
        </p:nvSpPr>
        <p:spPr>
          <a:xfrm>
            <a:off x="7724023" y="4553263"/>
            <a:ext cx="3962400" cy="1179016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GEMM / GEMV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每层 MLP、GDN 投影与 LM head；decode 反复执行 N = 1 的带宽受限 GEMV</a:t>
            </a:r>
            <a:endParaRPr sz="1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5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26" name="矩形 16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27" name="矩形 17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28" name="矩形 18"/>
          <p:cNvSpPr/>
          <p:nvPr/>
        </p:nvSpPr>
        <p:spPr>
          <a:xfrm>
            <a:off x="6649774" y="-14288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37" name="直接连接符 19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9" name="TextBox 6"/>
          <p:cNvSpPr txBox="1"/>
          <p:nvPr/>
        </p:nvSpPr>
        <p:spPr>
          <a:xfrm>
            <a:off x="5127415" y="266760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0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bg2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1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2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1" name="图片 2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38" name="直接连接符 27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直接连接符 28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2" name="图片 3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14355" t="25089" r="10822" b="11812"/>
          <a:stretch>
            <a:fillRect/>
          </a:stretch>
        </p:blipFill>
        <p:spPr>
          <a:xfrm>
            <a:off x="138034" y="3680774"/>
            <a:ext cx="7057077" cy="2382869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left-sub"/>
          <p:cNvSpPr txBox="1"/>
          <p:nvPr/>
        </p:nvSpPr>
        <p:spPr>
          <a:xfrm>
            <a:off x="471742" y="1041611"/>
            <a:ext cx="3861629" cy="616881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优化考量</a:t>
            </a:r>
            <a:endParaRPr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5" name="left-body"/>
          <p:cNvSpPr txBox="1"/>
          <p:nvPr/>
        </p:nvSpPr>
        <p:spPr>
          <a:xfrm>
            <a:off x="481729" y="1837914"/>
            <a:ext cx="3763152" cy="2179278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机制一：hybrid KV cache 对齐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Qwen3.5 对attention page与 GDN state page做大小和 chunk 对齐，attention</a:t>
            </a:r>
            <a:r>
              <a:rPr altLang="en-US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的</a:t>
            </a: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BLOCK_SIZE 被计算为 784，</a:t>
            </a:r>
            <a:r>
              <a:rPr altLang="en-US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为</a:t>
            </a: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非典型大 page 形状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6" name="concl"/>
          <p:cNvSpPr txBox="1"/>
          <p:nvPr/>
        </p:nvSpPr>
        <p:spPr>
          <a:xfrm>
            <a:off x="812800" y="5716708"/>
            <a:ext cx="10160000" cy="2794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endParaRPr sz="1300" lang="en-US" noProof="1"/>
          </a:p>
        </p:txBody>
      </p:sp>
      <p:sp>
        <p:nvSpPr>
          <p:cNvPr id="1048607" name="文本框 29"/>
          <p:cNvSpPr txBox="1"/>
          <p:nvPr/>
        </p:nvSpPr>
        <p:spPr>
          <a:xfrm>
            <a:off x="456797" y="4219267"/>
            <a:ext cx="3861629" cy="2951480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55000"/>
              </a:lnSpc>
              <a:spcBef>
                <a:spcPts val="1200"/>
              </a:spcBef>
            </a:pPr>
            <a:r>
              <a:rPr altLang="zh-CN" b="1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机制二：backend 默认回退</a:t>
            </a:r>
            <a:endParaRPr altLang="zh-CN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当前环境下，</a:t>
            </a:r>
            <a:r>
              <a:rPr altLang="zh-CN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未启用 AITER unified attention / MHA / prefill-decode split 时，默认回退到 Triton unified attention</a:t>
            </a:r>
            <a:r>
              <a:rPr altLang="en-US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作为</a:t>
            </a:r>
            <a:r>
              <a:rPr altLang="zh-CN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full-attention 层的默认路径</a:t>
            </a:r>
            <a:endParaRPr altLang="zh-CN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59" name="图片 3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b="12890"/>
          <a:stretch>
            <a:fillRect/>
          </a:stretch>
        </p:blipFill>
        <p:spPr>
          <a:xfrm>
            <a:off x="4201046" y="1578148"/>
            <a:ext cx="7947119" cy="4615114"/>
          </a:xfrm>
          <a:prstGeom prst="rect"/>
        </p:spPr>
      </p:pic>
      <p:sp>
        <p:nvSpPr>
          <p:cNvPr id="1048608" name="q2-num"/>
          <p:cNvSpPr txBox="1"/>
          <p:nvPr/>
        </p:nvSpPr>
        <p:spPr>
          <a:xfrm>
            <a:off x="1417701" y="269000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09" name="矩形 30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10" name="矩形 32"/>
          <p:cNvSpPr/>
          <p:nvPr/>
        </p:nvSpPr>
        <p:spPr>
          <a:xfrm>
            <a:off x="0" y="0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11" name="矩形 33"/>
          <p:cNvSpPr/>
          <p:nvPr/>
        </p:nvSpPr>
        <p:spPr>
          <a:xfrm>
            <a:off x="6649774" y="-21009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34" name="直接连接符 34"/>
          <p:cNvCxnSpPr>
            <a:cxnSpLocks/>
          </p:cNvCxnSpPr>
          <p:nvPr/>
        </p:nvCxnSpPr>
        <p:spPr>
          <a:xfrm>
            <a:off x="10003249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2" name="TextBox 6"/>
          <p:cNvSpPr txBox="1"/>
          <p:nvPr/>
        </p:nvSpPr>
        <p:spPr>
          <a:xfrm>
            <a:off x="5127415" y="260039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3" name="TextBox 7"/>
          <p:cNvSpPr txBox="1"/>
          <p:nvPr/>
        </p:nvSpPr>
        <p:spPr>
          <a:xfrm>
            <a:off x="6792874" y="227942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bg2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4" name="TextBox 9"/>
          <p:cNvSpPr txBox="1"/>
          <p:nvPr/>
        </p:nvSpPr>
        <p:spPr>
          <a:xfrm>
            <a:off x="8494134" y="224420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15" name="TextBox 11"/>
          <p:cNvSpPr txBox="1"/>
          <p:nvPr/>
        </p:nvSpPr>
        <p:spPr>
          <a:xfrm>
            <a:off x="10182151" y="21590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0" name="图片 3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75559" y="143396"/>
            <a:ext cx="2999492" cy="548688"/>
          </a:xfrm>
          <a:prstGeom prst="rect"/>
        </p:spPr>
      </p:pic>
      <p:cxnSp>
        <p:nvCxnSpPr>
          <p:cNvPr id="3145735" name="直接连接符 40"/>
          <p:cNvCxnSpPr>
            <a:cxnSpLocks/>
          </p:cNvCxnSpPr>
          <p:nvPr/>
        </p:nvCxnSpPr>
        <p:spPr>
          <a:xfrm>
            <a:off x="6650316" y="269000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直接连接符 41"/>
          <p:cNvCxnSpPr>
            <a:cxnSpLocks/>
          </p:cNvCxnSpPr>
          <p:nvPr/>
        </p:nvCxnSpPr>
        <p:spPr>
          <a:xfrm>
            <a:off x="8315775" y="288358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ight-sub"/>
          <p:cNvSpPr txBox="1"/>
          <p:nvPr/>
        </p:nvSpPr>
        <p:spPr>
          <a:xfrm>
            <a:off x="534041" y="1235250"/>
            <a:ext cx="3999540" cy="572727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8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提出</a:t>
            </a:r>
            <a:r>
              <a:rPr altLang="en-US" b="1" sz="28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的</a:t>
            </a:r>
            <a:r>
              <a:rPr b="1" sz="28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问题</a:t>
            </a:r>
            <a:endParaRPr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4" name="q1-num"/>
          <p:cNvSpPr txBox="1"/>
          <p:nvPr/>
        </p:nvSpPr>
        <p:spPr>
          <a:xfrm>
            <a:off x="1458906" y="2082800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01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5" name="q1"/>
          <p:cNvSpPr txBox="1"/>
          <p:nvPr/>
        </p:nvSpPr>
        <p:spPr>
          <a:xfrm>
            <a:off x="2026686" y="1964576"/>
            <a:ext cx="7444121" cy="1275739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2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如何让 Triton kernel 在该模型与平台上跑得更快？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通过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合理的</a:t>
            </a:r>
            <a:r>
              <a:rPr altLang="zh-CN"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workflow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进行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调参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算子代码微调。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6" name="q2"/>
          <p:cNvSpPr txBox="1"/>
          <p:nvPr/>
        </p:nvSpPr>
        <p:spPr>
          <a:xfrm>
            <a:off x="2026687" y="3213492"/>
            <a:ext cx="9115446" cy="1243514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2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custom kernel 自定义快速算子是否可行？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难度很高、投入产出比低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altLang="zh-CN"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NVIDIA 经验无法直接迁移到gfx936 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7" name="q3-num"/>
          <p:cNvSpPr txBox="1"/>
          <p:nvPr/>
        </p:nvSpPr>
        <p:spPr>
          <a:xfrm>
            <a:off x="1458905" y="462457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03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8" name="q3"/>
          <p:cNvSpPr txBox="1"/>
          <p:nvPr/>
        </p:nvSpPr>
        <p:spPr>
          <a:xfrm>
            <a:off x="2026687" y="4607175"/>
            <a:ext cx="7749415" cy="1243514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2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能否开启因各种原因未被选中的快速</a:t>
            </a:r>
            <a:r>
              <a:rPr altLang="en-US" b="1" sz="24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路径</a:t>
            </a:r>
            <a:r>
              <a:rPr b="1" sz="2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？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可行，通过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绕开通用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但较慢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的默认路径</a:t>
            </a:r>
            <a:r>
              <a:rPr altLang="en-US" sz="2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来提速</a:t>
            </a:r>
            <a:r>
              <a:rPr sz="2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39" name="文本框 54"/>
          <p:cNvSpPr txBox="1"/>
          <p:nvPr/>
        </p:nvSpPr>
        <p:spPr>
          <a:xfrm>
            <a:off x="1371281" y="3358539"/>
            <a:ext cx="697431" cy="563880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altLang="zh-CN"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altLang="zh-CN"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0" name="q2-num"/>
          <p:cNvSpPr txBox="1"/>
          <p:nvPr/>
        </p:nvSpPr>
        <p:spPr>
          <a:xfrm>
            <a:off x="1417701" y="287559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1" name="矩形 68"/>
          <p:cNvSpPr/>
          <p:nvPr/>
        </p:nvSpPr>
        <p:spPr>
          <a:xfrm>
            <a:off x="0" y="18559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42" name="矩形 69"/>
          <p:cNvSpPr/>
          <p:nvPr/>
        </p:nvSpPr>
        <p:spPr>
          <a:xfrm>
            <a:off x="0" y="18559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43" name="矩形 70"/>
          <p:cNvSpPr/>
          <p:nvPr/>
        </p:nvSpPr>
        <p:spPr>
          <a:xfrm>
            <a:off x="6649774" y="-2450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40" name="直接连接符 71"/>
          <p:cNvCxnSpPr>
            <a:cxnSpLocks/>
          </p:cNvCxnSpPr>
          <p:nvPr/>
        </p:nvCxnSpPr>
        <p:spPr>
          <a:xfrm>
            <a:off x="10003249" y="306917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4" name="TextBox 6"/>
          <p:cNvSpPr txBox="1"/>
          <p:nvPr/>
        </p:nvSpPr>
        <p:spPr>
          <a:xfrm>
            <a:off x="5127415" y="27859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5" name="TextBox 7"/>
          <p:cNvSpPr txBox="1"/>
          <p:nvPr/>
        </p:nvSpPr>
        <p:spPr>
          <a:xfrm>
            <a:off x="6792874" y="24650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bg2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6" name="TextBox 9"/>
          <p:cNvSpPr txBox="1"/>
          <p:nvPr/>
        </p:nvSpPr>
        <p:spPr>
          <a:xfrm>
            <a:off x="8494134" y="242979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7" name="TextBox 11"/>
          <p:cNvSpPr txBox="1"/>
          <p:nvPr/>
        </p:nvSpPr>
        <p:spPr>
          <a:xfrm>
            <a:off x="10182151" y="234462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3" name="图片 7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30477"/>
            <a:ext cx="2999492" cy="548688"/>
          </a:xfrm>
          <a:prstGeom prst="rect"/>
        </p:spPr>
      </p:pic>
      <p:cxnSp>
        <p:nvCxnSpPr>
          <p:cNvPr id="3145741" name="直接连接符 77"/>
          <p:cNvCxnSpPr>
            <a:cxnSpLocks/>
          </p:cNvCxnSpPr>
          <p:nvPr/>
        </p:nvCxnSpPr>
        <p:spPr>
          <a:xfrm>
            <a:off x="6650316" y="28755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直接连接符 78"/>
          <p:cNvCxnSpPr>
            <a:cxnSpLocks/>
          </p:cNvCxnSpPr>
          <p:nvPr/>
        </p:nvCxnSpPr>
        <p:spPr>
          <a:xfrm>
            <a:off x="8315775" y="306917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"/>
          <p:cNvSpPr txBox="1"/>
          <p:nvPr/>
        </p:nvSpPr>
        <p:spPr>
          <a:xfrm>
            <a:off x="444551" y="1073574"/>
            <a:ext cx="2353929" cy="65198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altLang="en-US" b="1" sz="28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总体方向</a:t>
            </a:r>
            <a:endParaRPr b="1"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49" name="left-sub"/>
          <p:cNvSpPr txBox="1"/>
          <p:nvPr/>
        </p:nvSpPr>
        <p:spPr>
          <a:xfrm>
            <a:off x="462982" y="2074353"/>
            <a:ext cx="5461000" cy="2794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en-US" b="1" sz="20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前期探索</a:t>
            </a:r>
            <a:endParaRPr sz="20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0" name="ev1"/>
          <p:cNvSpPr txBox="1"/>
          <p:nvPr/>
        </p:nvSpPr>
        <p:spPr>
          <a:xfrm>
            <a:off x="630812" y="2702552"/>
            <a:ext cx="5283200" cy="1133672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Triton 编译器足够好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比赛环境，</a:t>
            </a: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采样 JIT IR 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显示</a:t>
            </a: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 Triton 能编译并使用 MMA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路径</a:t>
            </a: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，利用 DCU 的 matrix core；JIT 还能获取更多平台运行时信息。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1" name="ev2"/>
          <p:cNvSpPr txBox="1"/>
          <p:nvPr/>
        </p:nvSpPr>
        <p:spPr>
          <a:xfrm>
            <a:off x="630555" y="4343400"/>
            <a:ext cx="5156200" cy="2168525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手写算子代价高</a:t>
            </a:r>
            <a:r>
              <a:rPr altLang="en-US" b="1" sz="16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且收益小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现有算子基本实现了很多通用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优化，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从零手写算子投入高、收益小</a:t>
            </a: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，且 NVIDIA 平台经验无法直接迁移到 gfx936。</a:t>
            </a:r>
            <a:r>
              <a:rPr altLang="en-US" sz="16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相应的，算子融合、利用已有算子代价小且收益高。</a:t>
            </a:r>
            <a:endParaRPr altLang="en-US" sz="1600" lang="zh-CN" noProof="1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1600" lang="zh-CN" noProof="1">
                <a:latin typeface="Microsoft YaHei" pitchFamily="34" charset="-122"/>
                <a:ea typeface="Microsoft YaHei" pitchFamily="34" charset="-122"/>
              </a:rPr>
              <a:t>后续团队没有重写完整通用算子，而是在已有路径上增加窄门控的专用实现</a:t>
            </a:r>
            <a:endParaRPr altLang="en-US" sz="1600" lang="zh-CN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2" name="right-sub"/>
          <p:cNvSpPr txBox="1"/>
          <p:nvPr/>
        </p:nvSpPr>
        <p:spPr>
          <a:xfrm>
            <a:off x="5850456" y="1627074"/>
            <a:ext cx="4521200" cy="2794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0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由此形成的优化</a:t>
            </a:r>
            <a:r>
              <a:rPr altLang="en-US" b="1" sz="20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策略</a:t>
            </a:r>
            <a:endParaRPr sz="20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3" name="r1-num"/>
          <p:cNvSpPr txBox="1"/>
          <p:nvPr/>
        </p:nvSpPr>
        <p:spPr>
          <a:xfrm>
            <a:off x="6324472" y="2332054"/>
            <a:ext cx="303924" cy="182236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01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4" name="r1"/>
          <p:cNvSpPr txBox="1"/>
          <p:nvPr/>
        </p:nvSpPr>
        <p:spPr>
          <a:xfrm>
            <a:off x="6778549" y="2167431"/>
            <a:ext cx="3962400" cy="838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altLang="zh-CN" b="1" sz="20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Tune</a:t>
            </a:r>
            <a:endParaRPr altLang="zh-CN" sz="20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调整 BLOCK_M、TILE_SIZE 等参数，并微调线性注意力区投影的 GEMV 算子代码。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5" name="r2-num"/>
          <p:cNvSpPr txBox="1"/>
          <p:nvPr/>
        </p:nvSpPr>
        <p:spPr>
          <a:xfrm>
            <a:off x="6349631" y="3608804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6" name="r2"/>
          <p:cNvSpPr txBox="1"/>
          <p:nvPr/>
        </p:nvSpPr>
        <p:spPr>
          <a:xfrm>
            <a:off x="6778549" y="3466379"/>
            <a:ext cx="3962400" cy="1133671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20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Route</a:t>
            </a:r>
            <a:endParaRPr altLang="zh-CN" b="1" sz="2000" lang="en-US" noProof="1">
              <a:solidFill>
                <a:srgbClr val="2C477A"/>
              </a:solidFill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0000"/>
              </a:lnSpc>
            </a:pPr>
            <a:r>
              <a:rPr altLang="zh-CN" dirty="0" sz="1600" 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Decode BM16/T16/S256；GDN NT bucket</a:t>
            </a:r>
            <a:r>
              <a:rPr altLang="en-US" dirty="0" sz="1600" 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altLang="zh-CN" dirty="0" sz="1600" 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Strided-K rows/threads</a:t>
            </a:r>
            <a:r>
              <a:rPr altLang="en-US" dirty="0" sz="1600" lang="zh-CN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等</a:t>
            </a:r>
            <a:endParaRPr altLang="zh-CN" dirty="0" sz="1600" lang="zh-CN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57" name="r3-num"/>
          <p:cNvSpPr txBox="1"/>
          <p:nvPr/>
        </p:nvSpPr>
        <p:spPr>
          <a:xfrm>
            <a:off x="6336509" y="4898706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03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8" name="r3"/>
          <p:cNvSpPr txBox="1"/>
          <p:nvPr/>
        </p:nvSpPr>
        <p:spPr>
          <a:xfrm>
            <a:off x="6749898" y="4749543"/>
            <a:ext cx="3962400" cy="1533869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20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Fuse/ Remove</a:t>
            </a:r>
            <a:endParaRPr sz="20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</a:pPr>
            <a:r>
              <a:rPr altLang="zh-CN" dirty="0" sz="1600" lang="zh-CN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gate_up GEMV + SwiGLU；GDN output 直写；chunk indices 复用</a:t>
            </a:r>
            <a:r>
              <a:rPr altLang="en-US" dirty="0" sz="1600" lang="zh-CN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等</a:t>
            </a:r>
            <a:endParaRPr altLang="zh-CN" dirty="0" sz="1600" lang="zh-CN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59" name="q2-num"/>
          <p:cNvSpPr txBox="1"/>
          <p:nvPr/>
        </p:nvSpPr>
        <p:spPr>
          <a:xfrm>
            <a:off x="1417701" y="242735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60" name="矩形 32"/>
          <p:cNvSpPr/>
          <p:nvPr/>
        </p:nvSpPr>
        <p:spPr>
          <a:xfrm>
            <a:off x="0" y="-2626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61" name="矩形 33"/>
          <p:cNvSpPr/>
          <p:nvPr/>
        </p:nvSpPr>
        <p:spPr>
          <a:xfrm>
            <a:off x="0" y="-2626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62" name="矩形 34"/>
          <p:cNvSpPr/>
          <p:nvPr/>
        </p:nvSpPr>
        <p:spPr>
          <a:xfrm>
            <a:off x="6649774" y="-47274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43" name="直接连接符 35"/>
          <p:cNvCxnSpPr>
            <a:cxnSpLocks/>
          </p:cNvCxnSpPr>
          <p:nvPr/>
        </p:nvCxnSpPr>
        <p:spPr>
          <a:xfrm>
            <a:off x="10003249" y="26209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3" name="TextBox 6"/>
          <p:cNvSpPr txBox="1"/>
          <p:nvPr/>
        </p:nvSpPr>
        <p:spPr>
          <a:xfrm>
            <a:off x="5127415" y="23377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64" name="TextBox 7"/>
          <p:cNvSpPr txBox="1"/>
          <p:nvPr/>
        </p:nvSpPr>
        <p:spPr>
          <a:xfrm>
            <a:off x="6792874" y="201677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bg2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65" name="TextBox 9"/>
          <p:cNvSpPr txBox="1"/>
          <p:nvPr/>
        </p:nvSpPr>
        <p:spPr>
          <a:xfrm>
            <a:off x="8494134" y="198155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66" name="TextBox 11"/>
          <p:cNvSpPr txBox="1"/>
          <p:nvPr/>
        </p:nvSpPr>
        <p:spPr>
          <a:xfrm>
            <a:off x="10182151" y="18963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4" name="图片 4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85653"/>
            <a:ext cx="2999492" cy="548688"/>
          </a:xfrm>
          <a:prstGeom prst="rect"/>
        </p:spPr>
      </p:pic>
      <p:cxnSp>
        <p:nvCxnSpPr>
          <p:cNvPr id="3145744" name="直接连接符 41"/>
          <p:cNvCxnSpPr>
            <a:cxnSpLocks/>
          </p:cNvCxnSpPr>
          <p:nvPr/>
        </p:nvCxnSpPr>
        <p:spPr>
          <a:xfrm>
            <a:off x="6650316" y="242735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直接连接符 42"/>
          <p:cNvCxnSpPr>
            <a:cxnSpLocks/>
          </p:cNvCxnSpPr>
          <p:nvPr/>
        </p:nvCxnSpPr>
        <p:spPr>
          <a:xfrm>
            <a:off x="8315775" y="26209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"/>
          <p:cNvSpPr txBox="1"/>
          <p:nvPr/>
        </p:nvSpPr>
        <p:spPr>
          <a:xfrm>
            <a:off x="469866" y="1508356"/>
            <a:ext cx="7302534" cy="602781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altLang="en-US" b="1" sz="32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尝试：</a:t>
            </a:r>
            <a:r>
              <a:rPr b="1" sz="32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长 prefill shape specialization</a:t>
            </a:r>
            <a:endParaRPr b="1" sz="3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68" name="bm-sub"/>
          <p:cNvSpPr txBox="1"/>
          <p:nvPr/>
        </p:nvSpPr>
        <p:spPr>
          <a:xfrm>
            <a:off x="499024" y="2505292"/>
            <a:ext cx="5032828" cy="328613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Unified Attention 2D：BM32 → BM64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4" name="bm-table"/>
          <p:cNvGraphicFramePr>
            <a:graphicFrameLocks noGrp="1"/>
          </p:cNvGraphicFramePr>
          <p:nvPr/>
        </p:nvGraphicFramePr>
        <p:xfrm>
          <a:off x="429172" y="3026252"/>
          <a:ext cx="5102680" cy="2903293"/>
        </p:xfrm>
        <a:graphic>
          <a:graphicData uri="http://schemas.openxmlformats.org/drawingml/2006/table">
            <a:tbl>
              <a:tblPr/>
              <a:tblGrid>
                <a:gridCol w="1069522"/>
                <a:gridCol w="1387928"/>
                <a:gridCol w="1469572"/>
                <a:gridCol w="1175658"/>
              </a:tblGrid>
              <a:tr h="722215">
                <a:tc>
                  <a:txBody>
                    <a:bodyPr/>
                    <a:p>
                      <a:pPr algn="ctr"/>
                      <a:r>
                        <a:rPr altLang="zh-CN"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context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BM32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BM64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用时降低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736648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7.462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4.734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36.56%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215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16K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48.890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30.440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37.74%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2215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32K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103.748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64.627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37.71%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69" name="tile-sub"/>
          <p:cNvSpPr txBox="1"/>
          <p:nvPr/>
        </p:nvSpPr>
        <p:spPr>
          <a:xfrm>
            <a:off x="6555141" y="2571965"/>
            <a:ext cx="2787819" cy="328613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20000"/>
              </a:lnSpc>
            </a:pPr>
            <a:r>
              <a:rPr b="1" sz="16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Prefill TILE_SIZE = 16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0" name="tile-num"/>
          <p:cNvSpPr txBox="1"/>
          <p:nvPr/>
        </p:nvSpPr>
        <p:spPr>
          <a:xfrm>
            <a:off x="6674201" y="5214286"/>
            <a:ext cx="3727099" cy="644263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kernel </a:t>
            </a:r>
            <a:r>
              <a:rPr altLang="en-US" sz="28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加速 </a:t>
            </a:r>
            <a:r>
              <a:rPr b="1"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2.6–2.8×</a:t>
            </a:r>
            <a:endParaRPr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1" name="tile-body"/>
          <p:cNvSpPr txBox="1"/>
          <p:nvPr/>
        </p:nvSpPr>
        <p:spPr>
          <a:xfrm>
            <a:off x="6619832" y="3361407"/>
            <a:ext cx="4369297" cy="1829019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gfx936、head_dim = 256 下，32-token tile 因 LDS 压力只保留约 1 wave/SIMD；降到 16 后可达约 2 waves/SIMD。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2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3" name="矩形 12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74" name="矩形 13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75" name="矩形 14"/>
          <p:cNvSpPr/>
          <p:nvPr/>
        </p:nvSpPr>
        <p:spPr>
          <a:xfrm>
            <a:off x="8315775" y="-5465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46" name="直接连接符 15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extBox 6"/>
          <p:cNvSpPr txBox="1"/>
          <p:nvPr/>
        </p:nvSpPr>
        <p:spPr>
          <a:xfrm>
            <a:off x="510594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7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8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79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5" name="图片 2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47" name="直接连接符 21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直接连接符 22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9" name="直接连接符 4"/>
          <p:cNvCxnSpPr>
            <a:cxnSpLocks/>
          </p:cNvCxnSpPr>
          <p:nvPr/>
        </p:nvCxnSpPr>
        <p:spPr>
          <a:xfrm>
            <a:off x="5987415" y="2287905"/>
            <a:ext cx="0" cy="3785870"/>
          </a:xfrm>
          <a:prstGeom prst="line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图片 2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2024769"/>
            <a:ext cx="7854180" cy="4417975"/>
          </a:xfrm>
          <a:prstGeom prst="rect"/>
        </p:spPr>
      </p:pic>
      <p:sp>
        <p:nvSpPr>
          <p:cNvPr id="1048680" name="title"/>
          <p:cNvSpPr txBox="1"/>
          <p:nvPr/>
        </p:nvSpPr>
        <p:spPr>
          <a:xfrm>
            <a:off x="419100" y="1328485"/>
            <a:ext cx="10566400" cy="838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Full-attention Prefill：</a:t>
            </a:r>
            <a:r>
              <a:rPr altLang="en-US" b="1" sz="32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连续 </a:t>
            </a:r>
            <a:r>
              <a:rPr b="1" sz="32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FA </a:t>
            </a:r>
            <a:r>
              <a:rPr altLang="en-US" sz="28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避开 </a:t>
            </a:r>
            <a:r>
              <a:rPr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paged KV </a:t>
            </a:r>
            <a:r>
              <a:rPr altLang="en-US" sz="28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寻址</a:t>
            </a:r>
            <a:r>
              <a:rPr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：</a:t>
            </a:r>
            <a:endParaRPr sz="2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5" name="fa-table"/>
          <p:cNvGraphicFramePr>
            <a:graphicFrameLocks noGrp="1"/>
          </p:cNvGraphicFramePr>
          <p:nvPr/>
        </p:nvGraphicFramePr>
        <p:xfrm>
          <a:off x="7464874" y="2709644"/>
          <a:ext cx="4424644" cy="3301624"/>
        </p:xfrm>
        <a:graphic>
          <a:graphicData uri="http://schemas.openxmlformats.org/drawingml/2006/table">
            <a:tbl>
              <a:tblPr/>
              <a:tblGrid>
                <a:gridCol w="973422"/>
                <a:gridCol w="1238900"/>
                <a:gridCol w="1238900"/>
                <a:gridCol w="973422"/>
              </a:tblGrid>
              <a:tr h="596708"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History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paged UA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gather+FA+merge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用时降低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676229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4.726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1.650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65.08%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6229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8K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21.897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8.365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61.80%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6229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16K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38.997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14.464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62.91%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6229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32K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73.210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26.664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63.58%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81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82" name="矩形 13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83" name="矩形 14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84" name="矩形 15"/>
          <p:cNvSpPr/>
          <p:nvPr/>
        </p:nvSpPr>
        <p:spPr>
          <a:xfrm>
            <a:off x="8315775" y="-5465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50" name="直接连接符 16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5" name="TextBox 6"/>
          <p:cNvSpPr txBox="1"/>
          <p:nvPr/>
        </p:nvSpPr>
        <p:spPr>
          <a:xfrm>
            <a:off x="510594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86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87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88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7" name="图片 2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51" name="直接连接符 22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直接连接符 23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图片 1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10770" r="24655"/>
          <a:stretch>
            <a:fillRect/>
          </a:stretch>
        </p:blipFill>
        <p:spPr>
          <a:xfrm>
            <a:off x="175558" y="1931405"/>
            <a:ext cx="6110941" cy="4391098"/>
          </a:xfrm>
          <a:prstGeom prst="rect"/>
        </p:spPr>
      </p:pic>
      <p:sp>
        <p:nvSpPr>
          <p:cNvPr id="1048689" name="mirror-sub"/>
          <p:cNvSpPr txBox="1"/>
          <p:nvPr/>
        </p:nvSpPr>
        <p:spPr>
          <a:xfrm>
            <a:off x="638628" y="1122996"/>
            <a:ext cx="4104822" cy="484134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32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单请求连续 K/V </a:t>
            </a:r>
            <a:r>
              <a:rPr altLang="zh-CN" b="1" sz="32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Mirror</a:t>
            </a:r>
            <a:endParaRPr sz="3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6" name="fa-table"/>
          <p:cNvGraphicFramePr>
            <a:graphicFrameLocks noGrp="1"/>
          </p:cNvGraphicFramePr>
          <p:nvPr/>
        </p:nvGraphicFramePr>
        <p:xfrm>
          <a:off x="6195735" y="2415540"/>
          <a:ext cx="5906079" cy="3524964"/>
        </p:xfrm>
        <a:graphic>
          <a:graphicData uri="http://schemas.openxmlformats.org/drawingml/2006/table">
            <a:tbl>
              <a:tblPr/>
              <a:tblGrid>
                <a:gridCol w="1125394"/>
                <a:gridCol w="1716143"/>
                <a:gridCol w="1716143"/>
                <a:gridCol w="1348399"/>
              </a:tblGrid>
              <a:tr h="631925">
                <a:tc>
                  <a:txBody>
                    <a:bodyPr/>
                    <a:p>
                      <a:pPr algn="ctr"/>
                      <a:r>
                        <a:rPr altLang="en-US" b="1" sz="1800" lang="zh-CN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序列长度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altLang="en-US" b="1" sz="1800" lang="zh-CN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通用 </a:t>
                      </a:r>
                      <a:r>
                        <a:rPr altLang="zh-CN"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gather+FA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KV mirror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用时降低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721221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8K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5.302 ms 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4.477 ms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15.57%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1221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16K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11.412 ms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9.956 ms</a:t>
                      </a:r>
                      <a:endParaRPr altLang="zh-CN"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12.76% 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1221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30</a:t>
                      </a:r>
                      <a:r>
                        <a:rPr altLang="zh-CN"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K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22.081 ms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 20.397 ms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7.63%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1221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32K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 23.601 ms 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 20.900 ms 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 11.45%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90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91" name="矩形 17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92" name="矩形 18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693" name="矩形 19"/>
          <p:cNvSpPr/>
          <p:nvPr/>
        </p:nvSpPr>
        <p:spPr>
          <a:xfrm>
            <a:off x="8315775" y="-5465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53" name="直接连接符 21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4" name="TextBox 6"/>
          <p:cNvSpPr txBox="1"/>
          <p:nvPr/>
        </p:nvSpPr>
        <p:spPr>
          <a:xfrm>
            <a:off x="510594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95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96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697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69" name="图片 2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54" name="直接连接符 28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5" name="直接连接符 29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"/>
          <p:cNvSpPr txBox="1"/>
          <p:nvPr/>
        </p:nvSpPr>
        <p:spPr>
          <a:xfrm>
            <a:off x="494741" y="1346200"/>
            <a:ext cx="10566400" cy="838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Prefill MLP </a:t>
            </a:r>
            <a:r>
              <a:rPr altLang="en-US" sz="26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调</a:t>
            </a:r>
            <a:r>
              <a:rPr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优</a:t>
            </a:r>
            <a:r>
              <a:rPr altLang="en-US" sz="26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 48 层 GDN </a:t>
            </a:r>
            <a:r>
              <a:rPr altLang="en-US" sz="26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手动路由</a:t>
            </a:r>
            <a:endParaRPr sz="2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02" name="mlp-sub"/>
          <p:cNvSpPr txBox="1"/>
          <p:nvPr/>
        </p:nvSpPr>
        <p:spPr>
          <a:xfrm>
            <a:off x="812800" y="2362200"/>
            <a:ext cx="52070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5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Prefill MLP：rocBLAS 固定 solution（4096-token）</a:t>
            </a:r>
            <a:endParaRPr sz="15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7" name="mlp-table"/>
          <p:cNvGraphicFramePr>
            <a:graphicFrameLocks noGrp="1"/>
          </p:cNvGraphicFramePr>
          <p:nvPr/>
        </p:nvGraphicFramePr>
        <p:xfrm>
          <a:off x="262010" y="2939234"/>
          <a:ext cx="6187930" cy="2460171"/>
        </p:xfrm>
        <a:graphic>
          <a:graphicData uri="http://schemas.openxmlformats.org/drawingml/2006/table">
            <a:tbl>
              <a:tblPr/>
              <a:tblGrid>
                <a:gridCol w="2040663"/>
                <a:gridCol w="1440468"/>
                <a:gridCol w="1440468"/>
                <a:gridCol w="1266331"/>
              </a:tblGrid>
              <a:tr h="821697"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算子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altLang="en-US" b="1" sz="1800" lang="zh-CN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优化前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优化后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降幅</a:t>
                      </a:r>
                      <a:endParaRPr b="1" sz="18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819237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Down（solution 20980）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2.460 ms / 296.8 TF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2.374 ms / 307.6 TF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3.51%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9237"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gate_up（solution 20981）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4.375 ms / 333.8 TF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4.086 ms / 357.4 TF</a:t>
                      </a:r>
                      <a:endParaRPr sz="18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8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6.60%</a:t>
                      </a:r>
                      <a:endParaRPr b="1" sz="18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03" name="v-divider"/>
          <p:cNvSpPr/>
          <p:nvPr/>
        </p:nvSpPr>
        <p:spPr>
          <a:xfrm>
            <a:off x="6413500" y="2184400"/>
            <a:ext cx="12700" cy="4064000"/>
          </a:xfrm>
          <a:prstGeom prst="rect"/>
          <a:solidFill>
            <a:srgbClr val="D9DEE7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04" name="gdn-sub"/>
          <p:cNvSpPr txBox="1"/>
          <p:nvPr/>
        </p:nvSpPr>
        <p:spPr>
          <a:xfrm>
            <a:off x="6842034" y="2307817"/>
            <a:ext cx="4648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5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GDN prefill：autotune → </a:t>
            </a:r>
            <a:r>
              <a:rPr altLang="en-US" b="1" sz="15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手动路由选最优</a:t>
            </a:r>
            <a:endParaRPr sz="15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8" name="gdn-table"/>
          <p:cNvGraphicFramePr>
            <a:graphicFrameLocks noGrp="1"/>
          </p:cNvGraphicFramePr>
          <p:nvPr/>
        </p:nvGraphicFramePr>
        <p:xfrm>
          <a:off x="6731000" y="2717798"/>
          <a:ext cx="4945742" cy="2801670"/>
        </p:xfrm>
        <a:graphic>
          <a:graphicData uri="http://schemas.openxmlformats.org/drawingml/2006/table">
            <a:tbl>
              <a:tblPr/>
              <a:tblGrid>
                <a:gridCol w="791318"/>
                <a:gridCol w="1384808"/>
                <a:gridCol w="1384808"/>
                <a:gridCol w="1384808"/>
              </a:tblGrid>
              <a:tr h="560334"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T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recompute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state h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output o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560334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-5.15%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-33.30%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-19.56%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0334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8K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-6.91%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-32.50%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-19.83%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334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16K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-5.83%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-31.67%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-16.78%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334"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32K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-5.87%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-30.77%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-16.31%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05" name="q2-num"/>
          <p:cNvSpPr txBox="1"/>
          <p:nvPr/>
        </p:nvSpPr>
        <p:spPr>
          <a:xfrm>
            <a:off x="1417701" y="268965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06" name="矩形 11"/>
          <p:cNvSpPr/>
          <p:nvPr/>
        </p:nvSpPr>
        <p:spPr>
          <a:xfrm>
            <a:off x="0" y="-3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07" name="矩形 12"/>
          <p:cNvSpPr/>
          <p:nvPr/>
        </p:nvSpPr>
        <p:spPr>
          <a:xfrm>
            <a:off x="0" y="-3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08" name="矩形 13"/>
          <p:cNvSpPr/>
          <p:nvPr/>
        </p:nvSpPr>
        <p:spPr>
          <a:xfrm>
            <a:off x="8315775" y="-12221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56" name="直接连接符 14"/>
          <p:cNvCxnSpPr>
            <a:cxnSpLocks/>
          </p:cNvCxnSpPr>
          <p:nvPr/>
        </p:nvCxnSpPr>
        <p:spPr>
          <a:xfrm>
            <a:off x="10003249" y="28832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9" name="TextBox 6"/>
          <p:cNvSpPr txBox="1"/>
          <p:nvPr/>
        </p:nvSpPr>
        <p:spPr>
          <a:xfrm>
            <a:off x="5105941" y="21586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0" name="TextBox 7"/>
          <p:cNvSpPr txBox="1"/>
          <p:nvPr/>
        </p:nvSpPr>
        <p:spPr>
          <a:xfrm>
            <a:off x="6792874" y="227907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1" name="TextBox 9"/>
          <p:cNvSpPr txBox="1"/>
          <p:nvPr/>
        </p:nvSpPr>
        <p:spPr>
          <a:xfrm>
            <a:off x="8494134" y="224385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2" name="TextBox 11"/>
          <p:cNvSpPr txBox="1"/>
          <p:nvPr/>
        </p:nvSpPr>
        <p:spPr>
          <a:xfrm>
            <a:off x="10182151" y="21586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70" name="图片 1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1883"/>
            <a:ext cx="2999492" cy="548688"/>
          </a:xfrm>
          <a:prstGeom prst="rect"/>
        </p:spPr>
      </p:pic>
      <p:cxnSp>
        <p:nvCxnSpPr>
          <p:cNvPr id="3145757" name="直接连接符 20"/>
          <p:cNvCxnSpPr>
            <a:cxnSpLocks/>
          </p:cNvCxnSpPr>
          <p:nvPr/>
        </p:nvCxnSpPr>
        <p:spPr>
          <a:xfrm>
            <a:off x="6650316" y="268965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8" name="直接连接符 21"/>
          <p:cNvCxnSpPr>
            <a:cxnSpLocks/>
          </p:cNvCxnSpPr>
          <p:nvPr/>
        </p:nvCxnSpPr>
        <p:spPr>
          <a:xfrm>
            <a:off x="8315775" y="28832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"/>
          <p:cNvSpPr txBox="1"/>
          <p:nvPr/>
        </p:nvSpPr>
        <p:spPr>
          <a:xfrm>
            <a:off x="478064" y="1130267"/>
            <a:ext cx="8894536" cy="838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Decode attention 3D 联合配置 </a:t>
            </a:r>
            <a:r>
              <a:rPr b="1"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BM16/T16/S256</a:t>
            </a:r>
            <a:endParaRPr b="1" sz="2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09" name="dec-table"/>
          <p:cNvGraphicFramePr>
            <a:graphicFrameLocks noGrp="1"/>
          </p:cNvGraphicFramePr>
          <p:nvPr/>
        </p:nvGraphicFramePr>
        <p:xfrm>
          <a:off x="730406" y="1844674"/>
          <a:ext cx="6802664" cy="3526066"/>
        </p:xfrm>
        <a:graphic>
          <a:graphicData uri="http://schemas.openxmlformats.org/drawingml/2006/table">
            <a:tbl>
              <a:tblPr/>
              <a:tblGrid>
                <a:gridCol w="1496586"/>
                <a:gridCol w="1904746"/>
                <a:gridCol w="1904746"/>
                <a:gridCol w="1496586"/>
              </a:tblGrid>
              <a:tr h="654890"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Context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BM64/T16/S256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BM16/T16/S256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用时降低</a:t>
                      </a:r>
                      <a:endParaRPr b="1" sz="16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575614"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0.133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0.066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50.56%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4"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8K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0.173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0.091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47.23%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5614"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16K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0.245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0.138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43.46%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67"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24K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0.314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0.180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42.69%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67"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32K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0.393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0.234 ms</a:t>
                      </a:r>
                      <a:endParaRPr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40.39%</a:t>
                      </a:r>
                      <a:endParaRPr b="1" sz="1600" lang="en-US" noProof="1">
                        <a:solidFill>
                          <a:srgbClr val="000000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14" name="v-divider"/>
          <p:cNvSpPr/>
          <p:nvPr/>
        </p:nvSpPr>
        <p:spPr>
          <a:xfrm>
            <a:off x="7581900" y="1930400"/>
            <a:ext cx="12700" cy="3810000"/>
          </a:xfrm>
          <a:prstGeom prst="rect"/>
          <a:solidFill>
            <a:srgbClr val="D9DEE7"/>
          </a:solidFill>
          <a:ln>
            <a:noFill/>
          </a:ln>
        </p:spPr>
      </p:sp>
      <p:sp>
        <p:nvSpPr>
          <p:cNvPr id="1048715" name="dec-why-sub"/>
          <p:cNvSpPr txBox="1"/>
          <p:nvPr/>
        </p:nvSpPr>
        <p:spPr>
          <a:xfrm>
            <a:off x="7886700" y="1879600"/>
            <a:ext cx="3505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15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为什么是 BM16</a:t>
            </a:r>
            <a:endParaRPr sz="15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6" name="dec-why"/>
          <p:cNvSpPr txBox="1"/>
          <p:nvPr/>
        </p:nvSpPr>
        <p:spPr>
          <a:xfrm>
            <a:off x="7886700" y="2235200"/>
            <a:ext cx="3841750" cy="35560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并行度不足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2D grid 只有 num_seq × 4 KV heads；3D 将 KV 切成多 segment，再由 reduce_segments 合并。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寄存器压力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GQA ratio 6、decode 单 token：BM64 的 [64,256] FP32 accumulator 绝大部分行无效；BM8 又产生额外无效 q-block。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固定 workspace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256 段的 output/max/expsum 共 193.5 MiB，以显存换长上下文并行度</a:t>
            </a:r>
            <a:r>
              <a:rPr sz="12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1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7" name="文本框 8"/>
          <p:cNvSpPr txBox="1"/>
          <p:nvPr/>
        </p:nvSpPr>
        <p:spPr>
          <a:xfrm>
            <a:off x="1257982" y="5740400"/>
            <a:ext cx="6094638" cy="492443"/>
          </a:xfrm>
          <a:prstGeom prst="rect"/>
          <a:noFill/>
        </p:spPr>
        <p:txBody>
          <a:bodyPr wrap="square">
            <a:spAutoFit/>
          </a:bodyPr>
          <a:p>
            <a:r>
              <a:rPr altLang="zh-CN" b="1"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kernel 用时降低 40.4%–50.6%</a:t>
            </a:r>
            <a:endParaRPr altLang="en-US" b="1" dirty="0" lang="zh-CN"/>
          </a:p>
        </p:txBody>
      </p:sp>
      <p:sp>
        <p:nvSpPr>
          <p:cNvPr id="1048718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19" name="矩形 10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20" name="矩形 11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21" name="矩形 12"/>
          <p:cNvSpPr/>
          <p:nvPr/>
        </p:nvSpPr>
        <p:spPr>
          <a:xfrm>
            <a:off x="8315775" y="-5465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59" name="直接连接符 13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2" name="TextBox 6"/>
          <p:cNvSpPr txBox="1"/>
          <p:nvPr/>
        </p:nvSpPr>
        <p:spPr>
          <a:xfrm>
            <a:off x="510594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23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24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25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71" name="图片 1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60" name="直接连接符 19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1" name="直接连接符 20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"/>
          <p:cNvSpPr txBox="1"/>
          <p:nvPr/>
        </p:nvSpPr>
        <p:spPr>
          <a:xfrm>
            <a:off x="690335" y="1217804"/>
            <a:ext cx="5261429" cy="6096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30000"/>
              </a:lnSpc>
            </a:pPr>
            <a:r>
              <a:rPr b="1"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Decode Strided-K N=1 GEMV</a:t>
            </a:r>
            <a:endParaRPr b="1" sz="2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graphicFrame>
        <p:nvGraphicFramePr>
          <p:cNvPr id="4194310" name="gemv-table"/>
          <p:cNvGraphicFramePr>
            <a:graphicFrameLocks noGrp="1"/>
          </p:cNvGraphicFramePr>
          <p:nvPr/>
        </p:nvGraphicFramePr>
        <p:xfrm>
          <a:off x="320711" y="1908969"/>
          <a:ext cx="7062414" cy="2771497"/>
        </p:xfrm>
        <a:graphic>
          <a:graphicData uri="http://schemas.openxmlformats.org/drawingml/2006/table">
            <a:tbl>
              <a:tblPr/>
              <a:tblGrid>
                <a:gridCol w="1919225"/>
                <a:gridCol w="1611982"/>
                <a:gridCol w="1226457"/>
                <a:gridCol w="2304750"/>
              </a:tblGrid>
              <a:tr h="561775">
                <a:tc>
                  <a:txBody>
                    <a:bodyPr/>
                    <a:p>
                      <a:pPr algn="ctr"/>
                      <a:r>
                        <a:rPr b="1" sz="14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(M, K)</a:t>
                      </a:r>
                      <a:endParaRPr b="1" sz="14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4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rocBLAS</a:t>
                      </a:r>
                      <a:endParaRPr b="1" sz="14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4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Strided-K</a:t>
                      </a:r>
                      <a:endParaRPr b="1" sz="14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400" lang="en-US" noProof="1">
                          <a:solidFill>
                            <a:srgbClr val="203D74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相对 rocBLAS</a:t>
                      </a:r>
                      <a:endParaRPr b="1" sz="1400" lang="en-US" noProof="1">
                        <a:solidFill>
                          <a:srgbClr val="203D74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  <a:tr h="561775"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(16384, 5120)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239.714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116.867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-51.25%</a:t>
                      </a:r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　</a:t>
                      </a:r>
                      <a:r>
                        <a:rPr b="1"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1436 GB/s</a:t>
                      </a:r>
                      <a:endParaRPr b="1"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0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1775"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(34816, 5120)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499.329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246.080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-50.72%</a:t>
                      </a:r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　</a:t>
                      </a:r>
                      <a:r>
                        <a:rPr b="1"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1449 GB/s</a:t>
                      </a:r>
                      <a:endParaRPr b="1"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775"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(8192, 5120)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69.509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59.399 µs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-14.55%</a:t>
                      </a:r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　</a:t>
                      </a:r>
                      <a:r>
                        <a:rPr b="1"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1413 GB/s</a:t>
                      </a:r>
                      <a:endParaRPr b="1"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4397"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(248320, 5120)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1.905 ms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1.754 ms</a:t>
                      </a:r>
                      <a:endParaRPr sz="14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b="1" sz="1600" lang="en-US" noProof="1">
                          <a:solidFill>
                            <a:srgbClr val="000000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-7.93%</a:t>
                      </a:r>
                      <a:r>
                        <a:rPr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　</a:t>
                      </a:r>
                      <a:r>
                        <a:rPr b="1" sz="1600" lang="en-US" noProof="1">
                          <a:solidFill>
                            <a:srgbClr val="2C477A"/>
                          </a:solidFill>
                          <a:latin typeface="Microsoft YaHei" pitchFamily="34" charset="-122"/>
                          <a:ea typeface="Microsoft YaHei" pitchFamily="34" charset="-122"/>
                        </a:rPr>
                        <a:t>1450 GB/s</a:t>
                      </a:r>
                      <a:endParaRPr b="1" sz="1600" lang="en-US" noProof="1">
                        <a:solidFill>
                          <a:srgbClr val="2C477A"/>
                        </a:solidFill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03D7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27" name="v-divider"/>
          <p:cNvSpPr/>
          <p:nvPr/>
        </p:nvSpPr>
        <p:spPr>
          <a:xfrm>
            <a:off x="7541875" y="2006919"/>
            <a:ext cx="12700" cy="3810000"/>
          </a:xfrm>
          <a:prstGeom prst="rect"/>
          <a:solidFill>
            <a:srgbClr val="D9DEE7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28" name="aux-sub"/>
          <p:cNvSpPr txBox="1"/>
          <p:nvPr/>
        </p:nvSpPr>
        <p:spPr>
          <a:xfrm>
            <a:off x="7645290" y="1445288"/>
            <a:ext cx="7366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en-US" b="1" sz="1500" lang="zh-CN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以及 </a:t>
            </a:r>
            <a:r>
              <a:rPr altLang="zh-CN" b="1" sz="15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….</a:t>
            </a:r>
            <a:endParaRPr sz="15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29" name="aux1-tick"/>
          <p:cNvSpPr/>
          <p:nvPr/>
        </p:nvSpPr>
        <p:spPr>
          <a:xfrm>
            <a:off x="7867357" y="1946188"/>
            <a:ext cx="38100" cy="165100"/>
          </a:xfrm>
          <a:prstGeom prst="rect"/>
          <a:solidFill>
            <a:srgbClr val="49B7D0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30" name="aux1"/>
          <p:cNvSpPr txBox="1"/>
          <p:nvPr/>
        </p:nvSpPr>
        <p:spPr>
          <a:xfrm>
            <a:off x="8013590" y="1842297"/>
            <a:ext cx="3649088" cy="711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BF16 改用 FP32 fmaf 累加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[16384,5120] rel-L2 1.88e-5（LLMM1 为 3.47e-3），长 reduction 精度显著提升</a:t>
            </a:r>
            <a:r>
              <a:rPr sz="12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1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31" name="aux2-tick"/>
          <p:cNvSpPr/>
          <p:nvPr/>
        </p:nvSpPr>
        <p:spPr>
          <a:xfrm>
            <a:off x="7867357" y="2985044"/>
            <a:ext cx="38100" cy="165100"/>
          </a:xfrm>
          <a:prstGeom prst="rect"/>
          <a:solidFill>
            <a:srgbClr val="49B7D0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32" name="aux2"/>
          <p:cNvSpPr txBox="1"/>
          <p:nvPr/>
        </p:nvSpPr>
        <p:spPr>
          <a:xfrm>
            <a:off x="8013590" y="2935748"/>
            <a:ext cx="3352800" cy="1020883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K = 5120 使用 640 threads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每线程一个连续 16-byte chunk，</a:t>
            </a:r>
            <a:r>
              <a:rPr altLang="zh-CN"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kernel</a:t>
            </a:r>
            <a:r>
              <a:rPr altLang="en-US" sz="14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用时减少 </a:t>
            </a: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9.2%–9.7%</a:t>
            </a:r>
            <a:endParaRPr sz="1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33" name="aux3-tick"/>
          <p:cNvSpPr/>
          <p:nvPr/>
        </p:nvSpPr>
        <p:spPr>
          <a:xfrm>
            <a:off x="7872075" y="4171626"/>
            <a:ext cx="38100" cy="165100"/>
          </a:xfrm>
          <a:prstGeom prst="rect"/>
          <a:solidFill>
            <a:srgbClr val="49B7D0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34" name="aux3"/>
          <p:cNvSpPr txBox="1"/>
          <p:nvPr/>
        </p:nvSpPr>
        <p:spPr>
          <a:xfrm>
            <a:off x="7999983" y="3956631"/>
            <a:ext cx="3352800" cy="972671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gate_up GEMV + SwiGLU 融合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261.489 → 247.957 µs（-5.17%），消除中间量与一次 kernel launch</a:t>
            </a:r>
            <a:r>
              <a:rPr sz="12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12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35" name="aux4-tick"/>
          <p:cNvSpPr/>
          <p:nvPr/>
        </p:nvSpPr>
        <p:spPr>
          <a:xfrm>
            <a:off x="7867357" y="5148230"/>
            <a:ext cx="45719" cy="165100"/>
          </a:xfrm>
          <a:prstGeom prst="rect"/>
          <a:solidFill>
            <a:srgbClr val="49B7D0"/>
          </a:solidFill>
          <a:ln>
            <a:noFill/>
          </a:ln>
        </p:spPr>
        <p:txBody>
          <a:bodyPr/>
          <a:p>
            <a:endParaRPr altLang="en-US" lang="zh-CN"/>
          </a:p>
        </p:txBody>
      </p:sp>
      <p:sp>
        <p:nvSpPr>
          <p:cNvPr id="1048736" name="aux4"/>
          <p:cNvSpPr txBox="1"/>
          <p:nvPr/>
        </p:nvSpPr>
        <p:spPr>
          <a:xfrm>
            <a:off x="7999982" y="5041758"/>
            <a:ext cx="3499751" cy="1280704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b="1" sz="1400" lang="en-US" noProof="1">
                <a:solidFill>
                  <a:srgbClr val="2C477A"/>
                </a:solidFill>
                <a:latin typeface="Microsoft YaHei" pitchFamily="34" charset="-122"/>
                <a:ea typeface="Microsoft YaHei" pitchFamily="34" charset="-122"/>
              </a:rPr>
              <a:t>LM head 专用路由 rows = 2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sz="14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相对 LLMM1 rows=8 降低 27.03%；down projection 收窄为 rows=1/1024-thread 专用实现。</a:t>
            </a:r>
            <a:endParaRPr sz="1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37" name="q2-num"/>
          <p:cNvSpPr txBox="1"/>
          <p:nvPr/>
        </p:nvSpPr>
        <p:spPr>
          <a:xfrm>
            <a:off x="1417701" y="268965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38" name="矩形 16"/>
          <p:cNvSpPr/>
          <p:nvPr/>
        </p:nvSpPr>
        <p:spPr>
          <a:xfrm>
            <a:off x="0" y="-3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39" name="矩形 17"/>
          <p:cNvSpPr/>
          <p:nvPr/>
        </p:nvSpPr>
        <p:spPr>
          <a:xfrm>
            <a:off x="0" y="-35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40" name="矩形 18"/>
          <p:cNvSpPr/>
          <p:nvPr/>
        </p:nvSpPr>
        <p:spPr>
          <a:xfrm>
            <a:off x="8315775" y="-12221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62" name="直接连接符 19"/>
          <p:cNvCxnSpPr>
            <a:cxnSpLocks/>
          </p:cNvCxnSpPr>
          <p:nvPr/>
        </p:nvCxnSpPr>
        <p:spPr>
          <a:xfrm>
            <a:off x="10003249" y="28832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1" name="TextBox 6"/>
          <p:cNvSpPr txBox="1"/>
          <p:nvPr/>
        </p:nvSpPr>
        <p:spPr>
          <a:xfrm>
            <a:off x="5105941" y="21586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42" name="TextBox 7"/>
          <p:cNvSpPr txBox="1"/>
          <p:nvPr/>
        </p:nvSpPr>
        <p:spPr>
          <a:xfrm>
            <a:off x="6792874" y="227907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43" name="TextBox 9"/>
          <p:cNvSpPr txBox="1"/>
          <p:nvPr/>
        </p:nvSpPr>
        <p:spPr>
          <a:xfrm>
            <a:off x="8494134" y="224385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44" name="TextBox 11"/>
          <p:cNvSpPr txBox="1"/>
          <p:nvPr/>
        </p:nvSpPr>
        <p:spPr>
          <a:xfrm>
            <a:off x="10182151" y="215868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72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1883"/>
            <a:ext cx="2999492" cy="548688"/>
          </a:xfrm>
          <a:prstGeom prst="rect"/>
        </p:spPr>
      </p:pic>
      <p:cxnSp>
        <p:nvCxnSpPr>
          <p:cNvPr id="3145763" name="直接连接符 25"/>
          <p:cNvCxnSpPr>
            <a:cxnSpLocks/>
          </p:cNvCxnSpPr>
          <p:nvPr/>
        </p:nvCxnSpPr>
        <p:spPr>
          <a:xfrm>
            <a:off x="6650316" y="268965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4" name="直接连接符 26"/>
          <p:cNvCxnSpPr>
            <a:cxnSpLocks/>
          </p:cNvCxnSpPr>
          <p:nvPr/>
        </p:nvCxnSpPr>
        <p:spPr>
          <a:xfrm>
            <a:off x="8315775" y="288323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5" name="文本框 28"/>
          <p:cNvSpPr txBox="1"/>
          <p:nvPr/>
        </p:nvSpPr>
        <p:spPr>
          <a:xfrm>
            <a:off x="423484" y="5698318"/>
            <a:ext cx="7249131" cy="523220"/>
          </a:xfrm>
          <a:prstGeom prst="rect"/>
          <a:noFill/>
        </p:spPr>
        <p:txBody>
          <a:bodyPr wrap="square">
            <a:spAutoFit/>
          </a:bodyPr>
          <a:p>
            <a:r>
              <a:rPr altLang="zh-CN" sz="2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目标 shape 上最高相对 rocBLAS 提速 </a:t>
            </a:r>
            <a:r>
              <a:rPr altLang="zh-CN" b="1" sz="28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57.3%</a:t>
            </a:r>
            <a:endParaRPr altLang="en-US" b="1" dirty="0" lang="zh-CN"/>
          </a:p>
        </p:txBody>
      </p:sp>
      <p:cxnSp>
        <p:nvCxnSpPr>
          <p:cNvPr id="3145765" name="直接箭头连接符 14"/>
          <p:cNvCxnSpPr>
            <a:cxnSpLocks/>
          </p:cNvCxnSpPr>
          <p:nvPr/>
        </p:nvCxnSpPr>
        <p:spPr>
          <a:xfrm flipH="1" flipV="1">
            <a:off x="1756385" y="4483364"/>
            <a:ext cx="181568" cy="490925"/>
          </a:xfrm>
          <a:prstGeom prst="straightConnector1"/>
          <a:ln w="63500"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6" name="直接箭头连接符 32"/>
          <p:cNvCxnSpPr>
            <a:cxnSpLocks/>
          </p:cNvCxnSpPr>
          <p:nvPr/>
        </p:nvCxnSpPr>
        <p:spPr>
          <a:xfrm flipV="1">
            <a:off x="6087008" y="4550833"/>
            <a:ext cx="510642" cy="377508"/>
          </a:xfrm>
          <a:prstGeom prst="straightConnector1"/>
          <a:ln w="63500"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6" name="文本框 39"/>
          <p:cNvSpPr txBox="1"/>
          <p:nvPr/>
        </p:nvSpPr>
        <p:spPr>
          <a:xfrm>
            <a:off x="1174517" y="4938392"/>
            <a:ext cx="2307380" cy="583565"/>
          </a:xfrm>
          <a:prstGeom prst="rect"/>
          <a:noFill/>
        </p:spPr>
        <p:txBody>
          <a:bodyPr wrap="square">
            <a:spAutoFit/>
          </a:bodyPr>
          <a:p>
            <a:r>
              <a:rPr altLang="zh-CN" sz="1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qwen3.5 decode</a:t>
            </a:r>
            <a:r>
              <a:rPr altLang="en-US" sz="16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阶段用时前四的</a:t>
            </a:r>
            <a:r>
              <a:rPr altLang="zh-CN" sz="1600" lang="en-US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GEMV shape </a:t>
            </a:r>
            <a:endParaRPr altLang="en-US" dirty="0" sz="1200" lang="zh-CN"/>
          </a:p>
        </p:txBody>
      </p:sp>
      <p:sp>
        <p:nvSpPr>
          <p:cNvPr id="1048747" name="文本框 41"/>
          <p:cNvSpPr txBox="1"/>
          <p:nvPr/>
        </p:nvSpPr>
        <p:spPr>
          <a:xfrm>
            <a:off x="4927906" y="4938392"/>
            <a:ext cx="1633524" cy="583565"/>
          </a:xfrm>
          <a:prstGeom prst="rect"/>
          <a:noFill/>
        </p:spPr>
        <p:txBody>
          <a:bodyPr wrap="square">
            <a:spAutoFit/>
          </a:bodyPr>
          <a:p>
            <a:r>
              <a:rPr altLang="en-US" dirty="0" sz="1600" lang="zh-CN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达到带宽理论上限的</a:t>
            </a:r>
            <a:r>
              <a:rPr altLang="zh-CN" dirty="0" sz="1600" lang="en-US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90% </a:t>
            </a:r>
            <a:r>
              <a:rPr altLang="en-US" dirty="0" sz="1600" lang="zh-CN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左右</a:t>
            </a:r>
            <a:endParaRPr altLang="en-US" dirty="0" sz="1600" lang="zh-CN">
              <a:solidFill>
                <a:srgbClr val="203D74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c1-num"/>
          <p:cNvSpPr txBox="1"/>
          <p:nvPr/>
        </p:nvSpPr>
        <p:spPr>
          <a:xfrm>
            <a:off x="806085" y="1988341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01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49" name="c1"/>
          <p:cNvSpPr txBox="1"/>
          <p:nvPr/>
        </p:nvSpPr>
        <p:spPr>
          <a:xfrm>
            <a:off x="1293965" y="1872899"/>
            <a:ext cx="8797115" cy="889661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</a:pPr>
            <a:r>
              <a:rPr altLang="en-US" sz="2000" lang="zh-CN" noProof="1">
                <a:latin typeface="Microsoft YaHei" pitchFamily="34" charset="-122"/>
                <a:ea typeface="Microsoft YaHei" pitchFamily="34" charset="-122"/>
              </a:rPr>
              <a:t>频繁进行低成本的微测试，并针对性调参，基于实际 </a:t>
            </a:r>
            <a:r>
              <a:rPr altLang="zh-CN" sz="2000" lang="en-US" noProof="1">
                <a:latin typeface="Microsoft YaHei" pitchFamily="34" charset="-122"/>
                <a:ea typeface="Microsoft YaHei" pitchFamily="34" charset="-122"/>
              </a:rPr>
              <a:t>backend</a:t>
            </a:r>
            <a:r>
              <a:rPr altLang="en-US" sz="2000" lang="zh-CN" noProof="1">
                <a:latin typeface="Microsoft YaHei" pitchFamily="34" charset="-122"/>
                <a:ea typeface="Microsoft YaHei" pitchFamily="34" charset="-122"/>
              </a:rPr>
              <a:t>、算子 </a:t>
            </a:r>
            <a:r>
              <a:rPr altLang="zh-CN" sz="2000" lang="en-US" noProof="1">
                <a:latin typeface="Microsoft YaHei" pitchFamily="34" charset="-122"/>
                <a:ea typeface="Microsoft YaHei" pitchFamily="34" charset="-122"/>
              </a:rPr>
              <a:t>shape </a:t>
            </a:r>
            <a:r>
              <a:rPr altLang="en-US" sz="2000" lang="zh-CN" noProof="1">
                <a:latin typeface="Microsoft YaHei" pitchFamily="34" charset="-122"/>
                <a:ea typeface="Microsoft YaHei" pitchFamily="34" charset="-122"/>
              </a:rPr>
              <a:t>和实机 </a:t>
            </a:r>
            <a:r>
              <a:rPr altLang="zh-CN" sz="2000" lang="en-US" noProof="1">
                <a:latin typeface="Microsoft YaHei" pitchFamily="34" charset="-122"/>
                <a:ea typeface="Microsoft YaHei" pitchFamily="34" charset="-122"/>
              </a:rPr>
              <a:t>profile </a:t>
            </a:r>
            <a:r>
              <a:rPr altLang="en-US" sz="2000" lang="zh-CN" noProof="1">
                <a:latin typeface="Microsoft YaHei" pitchFamily="34" charset="-122"/>
                <a:ea typeface="Microsoft YaHei" pitchFamily="34" charset="-122"/>
              </a:rPr>
              <a:t>定位热点，投入小收益高。</a:t>
            </a:r>
            <a:endParaRPr sz="20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0" name="c2-num"/>
          <p:cNvSpPr txBox="1"/>
          <p:nvPr/>
        </p:nvSpPr>
        <p:spPr>
          <a:xfrm>
            <a:off x="769591" y="3105514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1" name="c2"/>
          <p:cNvSpPr txBox="1"/>
          <p:nvPr/>
        </p:nvSpPr>
        <p:spPr>
          <a:xfrm>
            <a:off x="1293965" y="2986982"/>
            <a:ext cx="9220200" cy="96082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挖掘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vLLM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已有的快速路径，来迁移到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BW1000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。例如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LLGemm 白名单与 non-paged FA prefill 路径以较少代码改动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降低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 60%+ 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full-attention prefill 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时长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r>
              <a:rPr sz="16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。</a:t>
            </a:r>
            <a:endParaRPr sz="16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2" name="c3-num"/>
          <p:cNvSpPr txBox="1"/>
          <p:nvPr/>
        </p:nvSpPr>
        <p:spPr>
          <a:xfrm>
            <a:off x="769591" y="4292391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03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3" name="c3"/>
          <p:cNvSpPr txBox="1"/>
          <p:nvPr/>
        </p:nvSpPr>
        <p:spPr>
          <a:xfrm>
            <a:off x="1293965" y="5374957"/>
            <a:ext cx="8797115" cy="711200"/>
          </a:xfrm>
          <a:prstGeom prst="rect"/>
          <a:noFill/>
          <a:ln>
            <a:noFill/>
          </a:ln>
        </p:spPr>
        <p:txBody>
          <a:bodyPr bIns="0" lIns="0" rIns="0" rtlCol="0" tIns="0" wrap="square"/>
          <a:p>
            <a:pPr>
              <a:lnSpc>
                <a:spcPct val="155000"/>
              </a:lnSpc>
              <a:spcBef>
                <a:spcPts val="200"/>
              </a:spcBef>
            </a:pP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采用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Baseline —&gt; profile —&gt; patch —&gt; A/B —&gt;  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判断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合规 —&gt;commit 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的</a:t>
            </a:r>
            <a:r>
              <a:rPr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工作流。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分工明确，效率高，易复现，易回滚。</a:t>
            </a:r>
            <a:endParaRPr sz="20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4" name="q2-num"/>
          <p:cNvSpPr txBox="1"/>
          <p:nvPr/>
        </p:nvSpPr>
        <p:spPr>
          <a:xfrm>
            <a:off x="1417701" y="275721"/>
            <a:ext cx="858937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sz="2400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02</a:t>
            </a:r>
            <a:endParaRPr sz="24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5" name="矩形 11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56" name="矩形 12"/>
          <p:cNvSpPr/>
          <p:nvPr/>
        </p:nvSpPr>
        <p:spPr>
          <a:xfrm>
            <a:off x="0" y="6721"/>
            <a:ext cx="12192000" cy="792000"/>
          </a:xfrm>
          <a:prstGeom prst="rect"/>
          <a:solidFill>
            <a:schemeClr val="bg1">
              <a:lumMod val="95000"/>
            </a:schemeClr>
          </a:solidFill>
          <a:ln>
            <a:noFill/>
          </a:ln>
          <a:effectLst>
            <a:outerShdw algn="t" blurRad="228600" dir="5400000" dist="50800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sz="2880" lang="zh-CN"/>
          </a:p>
        </p:txBody>
      </p:sp>
      <p:sp>
        <p:nvSpPr>
          <p:cNvPr id="1048757" name="矩形 13"/>
          <p:cNvSpPr/>
          <p:nvPr/>
        </p:nvSpPr>
        <p:spPr>
          <a:xfrm>
            <a:off x="10021150" y="0"/>
            <a:ext cx="1666001" cy="816369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>
            <a:lvl1pPr algn="l" defTabSz="914400" eaLnBrk="1" hangingPunct="1" latinLnBrk="0" marL="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altLang="en-US" b="1" sz="2400" lang="zh-CN">
              <a:solidFill>
                <a:schemeClr val="bg1"/>
              </a:solidFill>
            </a:endParaRPr>
          </a:p>
        </p:txBody>
      </p:sp>
      <p:cxnSp>
        <p:nvCxnSpPr>
          <p:cNvPr id="3145767" name="直接连接符 14"/>
          <p:cNvCxnSpPr>
            <a:cxnSpLocks/>
          </p:cNvCxnSpPr>
          <p:nvPr/>
        </p:nvCxnSpPr>
        <p:spPr>
          <a:xfrm>
            <a:off x="10003249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8" name="TextBox 6"/>
          <p:cNvSpPr txBox="1"/>
          <p:nvPr/>
        </p:nvSpPr>
        <p:spPr>
          <a:xfrm>
            <a:off x="510594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>
                    <a:lumMod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完成情况</a:t>
            </a:r>
            <a:endParaRPr altLang="en-US" b="1" dirty="0" sz="1600" lang="zh-CN">
              <a:solidFill>
                <a:schemeClr val="bg1">
                  <a:lumMod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59" name="TextBox 7"/>
          <p:cNvSpPr txBox="1"/>
          <p:nvPr/>
        </p:nvSpPr>
        <p:spPr>
          <a:xfrm>
            <a:off x="6792874" y="234663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开发历程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60" name="TextBox 9"/>
          <p:cNvSpPr txBox="1"/>
          <p:nvPr/>
        </p:nvSpPr>
        <p:spPr>
          <a:xfrm>
            <a:off x="8494134" y="231141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优化内容</a:t>
            </a:r>
            <a:endParaRPr altLang="en-US" b="1" dirty="0" sz="1600" lang="zh-CN">
              <a:solidFill>
                <a:schemeClr val="tx1">
                  <a:lumMod val="50000"/>
                  <a:lumOff val="5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61" name="TextBox 11"/>
          <p:cNvSpPr txBox="1"/>
          <p:nvPr/>
        </p:nvSpPr>
        <p:spPr>
          <a:xfrm>
            <a:off x="10182151" y="222624"/>
            <a:ext cx="1344000" cy="343159"/>
          </a:xfrm>
          <a:prstGeom prst="rect"/>
          <a:noFill/>
        </p:spPr>
        <p:txBody>
          <a:bodyPr bIns="48000" lIns="0" rIns="0" rtlCol="0" tIns="48000" wrap="square">
            <a:spAutoFit/>
          </a:bodyPr>
          <a:lstStyle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1600" lang="zh-CN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比赛总结</a:t>
            </a:r>
            <a:endParaRPr altLang="en-US" b="1" dirty="0" sz="1600" lang="zh-CN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73" name="图片 1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559" y="118639"/>
            <a:ext cx="2999492" cy="548688"/>
          </a:xfrm>
          <a:prstGeom prst="rect"/>
        </p:spPr>
      </p:pic>
      <p:cxnSp>
        <p:nvCxnSpPr>
          <p:cNvPr id="3145768" name="直接连接符 20"/>
          <p:cNvCxnSpPr>
            <a:cxnSpLocks/>
          </p:cNvCxnSpPr>
          <p:nvPr/>
        </p:nvCxnSpPr>
        <p:spPr>
          <a:xfrm>
            <a:off x="6650316" y="275721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9" name="直接连接符 21"/>
          <p:cNvCxnSpPr>
            <a:cxnSpLocks/>
          </p:cNvCxnSpPr>
          <p:nvPr/>
        </p:nvCxnSpPr>
        <p:spPr>
          <a:xfrm>
            <a:off x="8315775" y="295079"/>
            <a:ext cx="0" cy="245816"/>
          </a:xfrm>
          <a:prstGeom prst="line"/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2" name="文本框 23"/>
          <p:cNvSpPr txBox="1"/>
          <p:nvPr/>
        </p:nvSpPr>
        <p:spPr>
          <a:xfrm>
            <a:off x="468274" y="1081944"/>
            <a:ext cx="6324600" cy="597921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altLang="en-US" b="1" sz="2800" lang="zh-CN" noProof="1">
                <a:solidFill>
                  <a:srgbClr val="203D74"/>
                </a:solidFill>
                <a:latin typeface="Microsoft YaHei" pitchFamily="34" charset="-122"/>
                <a:ea typeface="Microsoft YaHei" pitchFamily="34" charset="-122"/>
              </a:rPr>
              <a:t>优化方案总结</a:t>
            </a:r>
            <a:endParaRPr altLang="zh-CN" b="1" sz="2800" lang="en-US" noProof="1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63" name="文本框 25"/>
          <p:cNvSpPr txBox="1"/>
          <p:nvPr/>
        </p:nvSpPr>
        <p:spPr>
          <a:xfrm>
            <a:off x="1226791" y="4193534"/>
            <a:ext cx="8864289" cy="961289"/>
          </a:xfrm>
          <a:prstGeom prst="rect"/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同时注重软硬件，针对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Qwen3.5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的特殊架构 和 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BW1000/gfx936 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的 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wave64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HBM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、寄存器和 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LDS 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特性做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Attention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GEMV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、</a:t>
            </a:r>
            <a:r>
              <a:rPr altLang="zh-CN" sz="2000" lang="en-US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GDN</a:t>
            </a:r>
            <a:r>
              <a:rPr altLang="en-US" sz="2000" lang="zh-CN" noProof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调优。</a:t>
            </a:r>
            <a:endParaRPr altLang="en-US" dirty="0" sz="2000" lang="zh-CN">
              <a:solidFill>
                <a:srgbClr val="00000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64" name="c3-num"/>
          <p:cNvSpPr txBox="1"/>
          <p:nvPr/>
        </p:nvSpPr>
        <p:spPr>
          <a:xfrm>
            <a:off x="769591" y="5476557"/>
            <a:ext cx="457200" cy="254000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b="1" lang="en-US" noProof="1">
                <a:solidFill>
                  <a:srgbClr val="49B7D0"/>
                </a:solidFill>
                <a:latin typeface="Microsoft YaHei" pitchFamily="34" charset="-122"/>
                <a:ea typeface="Microsoft YaHei" pitchFamily="34" charset="-122"/>
              </a:rPr>
              <a:t>04</a:t>
            </a:r>
            <a:endParaRPr lang="en-US" noProof="1"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矩形 2"/>
          <p:cNvSpPr/>
          <p:nvPr/>
        </p:nvSpPr>
        <p:spPr>
          <a:xfrm>
            <a:off x="0" y="2208168"/>
            <a:ext cx="12192000" cy="2861362"/>
          </a:xfrm>
          <a:prstGeom prst="rect"/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766" name="sub-title"/>
          <p:cNvSpPr txBox="1"/>
          <p:nvPr/>
        </p:nvSpPr>
        <p:spPr>
          <a:xfrm>
            <a:off x="1468965" y="3017962"/>
            <a:ext cx="9359902" cy="1403552"/>
          </a:xfrm>
          <a:prstGeom prst="rect"/>
          <a:noFill/>
          <a:ln>
            <a:noFill/>
          </a:ln>
        </p:spPr>
        <p:txBody>
          <a:bodyPr bIns="0" lIns="0" rIns="0" rtlCol="0" tIns="0" wrap="none"/>
          <a:p>
            <a:pPr>
              <a:lnSpc>
                <a:spcPct val="120000"/>
              </a:lnSpc>
            </a:pPr>
            <a:r>
              <a:rPr altLang="zh-CN" b="1" sz="7200" lang="en-US" noProof="1">
                <a:solidFill>
                  <a:schemeClr val="bg1">
                    <a:lumMod val="95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Thanks for Listening</a:t>
            </a:r>
            <a:endParaRPr b="1" sz="7200" lang="en-US" noProof="1">
              <a:solidFill>
                <a:schemeClr val="bg1">
                  <a:lumMod val="95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2097174" name="图片 6" descr="hitsz-logo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6089" y="573915"/>
            <a:ext cx="7431181" cy="1369484"/>
          </a:xfrm>
          <a:prstGeom prst="rect"/>
        </p:spPr>
      </p:pic>
      <p:sp>
        <p:nvSpPr>
          <p:cNvPr id="1048767" name="文本框 8"/>
          <p:cNvSpPr txBox="1"/>
          <p:nvPr/>
        </p:nvSpPr>
        <p:spPr>
          <a:xfrm>
            <a:off x="2531534" y="5607871"/>
            <a:ext cx="3564466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b="1" dirty="0" sz="180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队员：</a:t>
            </a:r>
            <a:r>
              <a:rPr altLang="en-US" b="1" dirty="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郭俭彰、周子轩、刘家良</a:t>
            </a:r>
            <a:r>
              <a:rPr altLang="zh-CN" b="1" dirty="0" sz="1800" lang="en-US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 </a:t>
            </a:r>
            <a:endParaRPr altLang="en-US" dirty="0" lang="zh-CN"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48768" name="文本框 10"/>
          <p:cNvSpPr txBox="1"/>
          <p:nvPr/>
        </p:nvSpPr>
        <p:spPr>
          <a:xfrm>
            <a:off x="6527802" y="5607871"/>
            <a:ext cx="3191931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b="1" dirty="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指导</a:t>
            </a:r>
            <a:r>
              <a:rPr altLang="en-US" b="1" dirty="0" sz="1800" lang="zh-CN">
                <a:solidFill>
                  <a:srgbClr val="3A6695"/>
                </a:solidFill>
                <a:latin typeface="Microsoft YaHei" pitchFamily="34" charset="-122"/>
                <a:ea typeface="Microsoft YaHei" pitchFamily="34" charset="-122"/>
              </a:rPr>
              <a:t>老师：仇洁婷、夏文</a:t>
            </a:r>
            <a:endParaRPr altLang="en-US" dirty="0" sz="1800" lang="zh-CN"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Qwen3.5 vLLM 国产加速卡推理优化</dc:title>
  <dc:creator>PKZ110</dc:creator>
  <cp:lastModifiedBy>郭俭彰</cp:lastModifiedBy>
  <dcterms:created xsi:type="dcterms:W3CDTF">2026-08-12T21:02:24Z</dcterms:created>
  <dcterms:modified xsi:type="dcterms:W3CDTF">2026-08-13T14:25:39Z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795793ae35cf4a709ebe861ff41646fd_23</vt:lpwstr>
  </property>
  <property fmtid="{D5CDD505-2E9C-101B-9397-08002B2CF9AE}" pid="4" name="KSOProductBuildVer">
    <vt:lpwstr>2052-12.1.26046.26046</vt:lpwstr>
  </property>
</Properties>
</file>